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81" r:id="rId2"/>
  </p:sldMasterIdLst>
  <p:notesMasterIdLst>
    <p:notesMasterId r:id="rId18"/>
  </p:notesMasterIdLst>
  <p:sldIdLst>
    <p:sldId id="257" r:id="rId3"/>
    <p:sldId id="273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8" r:id="rId12"/>
    <p:sldId id="286" r:id="rId13"/>
    <p:sldId id="287" r:id="rId14"/>
    <p:sldId id="282" r:id="rId15"/>
    <p:sldId id="283" r:id="rId16"/>
    <p:sldId id="285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B9A"/>
    <a:srgbClr val="F5D3D3"/>
    <a:srgbClr val="EAA4A4"/>
    <a:srgbClr val="FFFFFF"/>
    <a:srgbClr val="F0CCE1"/>
    <a:srgbClr val="E6A8CB"/>
    <a:srgbClr val="EEC0E2"/>
    <a:srgbClr val="C79EF0"/>
    <a:srgbClr val="4E95D9"/>
    <a:srgbClr val="B07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0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72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96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AB1FF-CDC8-483D-9636-831D2BB178E2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E2298-A224-497E-A75C-ECBD23968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1pPr>
            <a:lvl2pPr marL="742950" indent="-285750" defTabSz="915988" eaLnBrk="0" hangingPunct="0"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2pPr>
            <a:lvl3pPr marL="1143000" indent="-228600" defTabSz="915988" eaLnBrk="0" hangingPunct="0"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3pPr>
            <a:lvl4pPr marL="1600200" indent="-228600" defTabSz="915988" eaLnBrk="0" hangingPunct="0"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4pPr>
            <a:lvl5pPr marL="2057400" indent="-228600" defTabSz="915988" eaLnBrk="0" hangingPunct="0"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defRPr>
            </a:lvl9pPr>
          </a:lstStyle>
          <a:p>
            <a:pPr eaLnBrk="1" hangingPunct="1"/>
            <a:fld id="{4731F645-5693-4564-A977-D43829560084}" type="slidenum">
              <a:rPr lang="en-US" altLang="ko-KR">
                <a:latin typeface="Arial" panose="020B0604020202020204" pitchFamily="34" charset="0"/>
                <a:ea typeface="돋움" panose="020B0600000101010101" pitchFamily="50" charset="-127"/>
              </a:rPr>
              <a:pPr eaLnBrk="1" hangingPunct="1"/>
              <a:t>1</a:t>
            </a:fld>
            <a:endParaRPr lang="en-US" altLang="ko-KR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49300"/>
            <a:ext cx="4910137" cy="368300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86300"/>
            <a:ext cx="4883150" cy="4440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2405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04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6B72D51A-6E4C-42D2-845B-69903AE3022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45956" y="92496"/>
            <a:ext cx="321178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Video Search and Summarization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48CD64DC-76F0-470D-9B4D-29F5BC9673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006" y="82971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VSS UI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400591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V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17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6AF0E12-56A2-6CDF-367E-D48B0A7503F6}"/>
              </a:ext>
            </a:extLst>
          </p:cNvPr>
          <p:cNvSpPr/>
          <p:nvPr userDrawn="1"/>
        </p:nvSpPr>
        <p:spPr>
          <a:xfrm>
            <a:off x="31667" y="51459"/>
            <a:ext cx="9080665" cy="35625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71FF99-6A6B-DBB5-D111-F95A8895BDF8}"/>
              </a:ext>
            </a:extLst>
          </p:cNvPr>
          <p:cNvSpPr/>
          <p:nvPr userDrawn="1"/>
        </p:nvSpPr>
        <p:spPr>
          <a:xfrm>
            <a:off x="6824353" y="480950"/>
            <a:ext cx="2287979" cy="26719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4A68C-320F-0C43-3BB8-B046673A697A}"/>
              </a:ext>
            </a:extLst>
          </p:cNvPr>
          <p:cNvSpPr txBox="1"/>
          <p:nvPr userDrawn="1"/>
        </p:nvSpPr>
        <p:spPr>
          <a:xfrm>
            <a:off x="7709064" y="480950"/>
            <a:ext cx="518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306759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51">
            <a:extLst>
              <a:ext uri="{FF2B5EF4-FFF2-40B4-BE49-F238E27FC236}">
                <a16:creationId xmlns:a16="http://schemas.microsoft.com/office/drawing/2014/main" id="{FD805329-AD4A-49B2-AE01-A6A31FB5F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99206" y="361682"/>
            <a:ext cx="9044794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9E6F9D30-16F9-469F-AE0D-B4D32134B2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92368" y="6583363"/>
            <a:ext cx="854075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674975C-C355-4842-BACA-3BC177A62366}" type="slidenum">
              <a:rPr lang="en-US" altLang="ko-KR" sz="11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Line 58">
            <a:extLst>
              <a:ext uri="{FF2B5EF4-FFF2-40B4-BE49-F238E27FC236}">
                <a16:creationId xmlns:a16="http://schemas.microsoft.com/office/drawing/2014/main" id="{6DC1E0D7-836F-4C9E-BB10-E58E2B69830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22" y="6556374"/>
            <a:ext cx="904437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dirty="0"/>
          </a:p>
        </p:txBody>
      </p:sp>
      <p:sp>
        <p:nvSpPr>
          <p:cNvPr id="14" name="Text Box 44">
            <a:extLst>
              <a:ext uri="{FF2B5EF4-FFF2-40B4-BE49-F238E27FC236}">
                <a16:creationId xmlns:a16="http://schemas.microsoft.com/office/drawing/2014/main" id="{E7468285-3768-4A2C-91EA-135714684D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1503" y="6549905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IntelliVIX</a:t>
            </a:r>
            <a:endParaRPr lang="ko-KR" altLang="en-US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1859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5pPr>
      <a:lvl6pPr marL="422041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6pPr>
      <a:lvl7pPr marL="844083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7pPr>
      <a:lvl8pPr marL="1266124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8pPr>
      <a:lvl9pPr marL="1688165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1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2">
            <a:extLst>
              <a:ext uri="{FF2B5EF4-FFF2-40B4-BE49-F238E27FC236}">
                <a16:creationId xmlns:a16="http://schemas.microsoft.com/office/drawing/2014/main" id="{4D8FD462-C285-4544-AE88-DC9E5AD489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397" y="2344738"/>
            <a:ext cx="876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94619C0-C6FB-46BE-A589-28B60A114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2" y="1816100"/>
            <a:ext cx="90058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/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VSS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설계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16AA5F42-3B7D-4046-B102-EAD4579BA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5404" y="1117237"/>
            <a:ext cx="49983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Video Search and Summarization (VSS)</a:t>
            </a: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1E45847-F9ED-4FA5-8CDA-A84216886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7" y="5802313"/>
            <a:ext cx="908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Copyright © IntelliVIX</a:t>
            </a:r>
          </a:p>
          <a:p>
            <a:pPr algn="ctr" eaLnBrk="1" latinLnBrk="1" hangingPunct="1"/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IntelliVIX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의 사전 승인 없이 본 내용의 전부 또는 일부에 대한 복사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3E8EB5A-6A06-4A6E-BAD9-D280307E9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0" y="655639"/>
            <a:ext cx="219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824A16-15FD-3948-3AE5-C54E54A99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20858"/>
              </p:ext>
            </p:extLst>
          </p:nvPr>
        </p:nvGraphicFramePr>
        <p:xfrm>
          <a:off x="7290102" y="190455"/>
          <a:ext cx="1733307" cy="61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769">
                  <a:extLst>
                    <a:ext uri="{9D8B030D-6E8A-4147-A177-3AD203B41FA5}">
                      <a16:colId xmlns:a16="http://schemas.microsoft.com/office/drawing/2014/main" val="1454478206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65222542"/>
                    </a:ext>
                  </a:extLst>
                </a:gridCol>
                <a:gridCol w="577769">
                  <a:extLst>
                    <a:ext uri="{9D8B030D-6E8A-4147-A177-3AD203B41FA5}">
                      <a16:colId xmlns:a16="http://schemas.microsoft.com/office/drawing/2014/main" val="1742202260"/>
                    </a:ext>
                  </a:extLst>
                </a:gridCol>
              </a:tblGrid>
              <a:tr h="1536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대외비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687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6092610"/>
                  </a:ext>
                </a:extLst>
              </a:tr>
            </a:tbl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081879D2-D216-B023-53A6-9DB9E18C2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134" y="2461799"/>
            <a:ext cx="4827588" cy="22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2026-02-06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/AI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엔진팀</a:t>
            </a:r>
            <a:b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박정호 사원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eaLnBrk="1" latinLnBrk="1" hangingPunct="1"/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449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66CE-645B-1E9E-631D-AAAB9D88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21D3F36-F69F-59C1-1BD0-EEF5063079D1}"/>
              </a:ext>
            </a:extLst>
          </p:cNvPr>
          <p:cNvSpPr txBox="1"/>
          <p:nvPr/>
        </p:nvSpPr>
        <p:spPr>
          <a:xfrm>
            <a:off x="162296" y="571211"/>
            <a:ext cx="205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메뉴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9D7112-A308-5BE6-031B-284FFCDF0007}"/>
              </a:ext>
            </a:extLst>
          </p:cNvPr>
          <p:cNvSpPr/>
          <p:nvPr/>
        </p:nvSpPr>
        <p:spPr bwMode="auto">
          <a:xfrm>
            <a:off x="3853542" y="1065496"/>
            <a:ext cx="1436915" cy="4275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D90DC-6517-B15F-B66D-EB08AD55DE22}"/>
              </a:ext>
            </a:extLst>
          </p:cNvPr>
          <p:cNvSpPr txBox="1"/>
          <p:nvPr/>
        </p:nvSpPr>
        <p:spPr>
          <a:xfrm>
            <a:off x="4000004" y="1140752"/>
            <a:ext cx="1143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로그인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C56DCF-DD38-77E2-E0F6-6BD60DD0DC6F}"/>
              </a:ext>
            </a:extLst>
          </p:cNvPr>
          <p:cNvSpPr/>
          <p:nvPr/>
        </p:nvSpPr>
        <p:spPr bwMode="auto">
          <a:xfrm>
            <a:off x="1450768" y="1829475"/>
            <a:ext cx="1436915" cy="427512"/>
          </a:xfrm>
          <a:prstGeom prst="rect">
            <a:avLst/>
          </a:prstGeom>
          <a:solidFill>
            <a:srgbClr val="C79EF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2237C-0E7C-17FC-675E-0E0938916E36}"/>
              </a:ext>
            </a:extLst>
          </p:cNvPr>
          <p:cNvSpPr txBox="1"/>
          <p:nvPr/>
        </p:nvSpPr>
        <p:spPr>
          <a:xfrm>
            <a:off x="1597230" y="1904731"/>
            <a:ext cx="1143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관리자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01B503-8CBA-4B69-973F-16804AF6F47C}"/>
              </a:ext>
            </a:extLst>
          </p:cNvPr>
          <p:cNvSpPr/>
          <p:nvPr/>
        </p:nvSpPr>
        <p:spPr bwMode="auto">
          <a:xfrm>
            <a:off x="6256319" y="1829475"/>
            <a:ext cx="1436915" cy="427512"/>
          </a:xfrm>
          <a:prstGeom prst="rect">
            <a:avLst/>
          </a:prstGeom>
          <a:solidFill>
            <a:srgbClr val="C79EF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4DC80-CA2F-2F5D-556D-3112B4DB0589}"/>
              </a:ext>
            </a:extLst>
          </p:cNvPr>
          <p:cNvSpPr txBox="1"/>
          <p:nvPr/>
        </p:nvSpPr>
        <p:spPr>
          <a:xfrm>
            <a:off x="6402781" y="1904731"/>
            <a:ext cx="1143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사용자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4A660A9-583E-2229-6692-9A5EBAB1C2C0}"/>
              </a:ext>
            </a:extLst>
          </p:cNvPr>
          <p:cNvCxnSpPr>
            <a:stCxn id="2" idx="2"/>
            <a:endCxn id="6" idx="0"/>
          </p:cNvCxnSpPr>
          <p:nvPr/>
        </p:nvCxnSpPr>
        <p:spPr bwMode="auto">
          <a:xfrm rot="5400000">
            <a:off x="3202380" y="459854"/>
            <a:ext cx="336467" cy="2402774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4169E2B-59A3-738C-9CD1-097B602A452E}"/>
              </a:ext>
            </a:extLst>
          </p:cNvPr>
          <p:cNvCxnSpPr>
            <a:stCxn id="2" idx="2"/>
            <a:endCxn id="8" idx="0"/>
          </p:cNvCxnSpPr>
          <p:nvPr/>
        </p:nvCxnSpPr>
        <p:spPr bwMode="auto">
          <a:xfrm rot="16200000" flipH="1">
            <a:off x="5605155" y="459852"/>
            <a:ext cx="336467" cy="2402777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EE86D7-6DA9-6254-59F8-2154ECA99BD2}"/>
              </a:ext>
            </a:extLst>
          </p:cNvPr>
          <p:cNvSpPr/>
          <p:nvPr/>
        </p:nvSpPr>
        <p:spPr bwMode="auto">
          <a:xfrm>
            <a:off x="2416627" y="2593455"/>
            <a:ext cx="1436915" cy="427512"/>
          </a:xfrm>
          <a:prstGeom prst="rect">
            <a:avLst/>
          </a:prstGeom>
          <a:solidFill>
            <a:srgbClr val="E6A8CB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78379D-A9DF-A577-0233-CB744CA2C79B}"/>
              </a:ext>
            </a:extLst>
          </p:cNvPr>
          <p:cNvSpPr txBox="1"/>
          <p:nvPr/>
        </p:nvSpPr>
        <p:spPr>
          <a:xfrm>
            <a:off x="2447304" y="2668711"/>
            <a:ext cx="1375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사용자 접속 승인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28F5D9-2E5F-A85B-812C-3E88DA982831}"/>
              </a:ext>
            </a:extLst>
          </p:cNvPr>
          <p:cNvSpPr/>
          <p:nvPr/>
        </p:nvSpPr>
        <p:spPr bwMode="auto">
          <a:xfrm>
            <a:off x="6256319" y="2593455"/>
            <a:ext cx="1436915" cy="427512"/>
          </a:xfrm>
          <a:prstGeom prst="rect">
            <a:avLst/>
          </a:prstGeom>
          <a:solidFill>
            <a:srgbClr val="E6A8CB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712040-078F-18FC-70FE-66461F692D46}"/>
              </a:ext>
            </a:extLst>
          </p:cNvPr>
          <p:cNvSpPr txBox="1"/>
          <p:nvPr/>
        </p:nvSpPr>
        <p:spPr>
          <a:xfrm>
            <a:off x="6286996" y="2668711"/>
            <a:ext cx="1375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동영상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34B7F4-1415-2CCF-C645-2F4E37A306D9}"/>
              </a:ext>
            </a:extLst>
          </p:cNvPr>
          <p:cNvSpPr/>
          <p:nvPr/>
        </p:nvSpPr>
        <p:spPr bwMode="auto">
          <a:xfrm>
            <a:off x="7210304" y="3837034"/>
            <a:ext cx="1436915" cy="427512"/>
          </a:xfrm>
          <a:prstGeom prst="rect">
            <a:avLst/>
          </a:prstGeom>
          <a:solidFill>
            <a:srgbClr val="EAA4A4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EF4E15-F376-9CFF-828D-3FE48C18AD84}"/>
              </a:ext>
            </a:extLst>
          </p:cNvPr>
          <p:cNvSpPr txBox="1"/>
          <p:nvPr/>
        </p:nvSpPr>
        <p:spPr>
          <a:xfrm>
            <a:off x="7240981" y="3912290"/>
            <a:ext cx="1375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동영상 검색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E0557A0-23E7-BCBC-A9E3-44FA011A5D34}"/>
              </a:ext>
            </a:extLst>
          </p:cNvPr>
          <p:cNvSpPr/>
          <p:nvPr/>
        </p:nvSpPr>
        <p:spPr bwMode="auto">
          <a:xfrm>
            <a:off x="5290457" y="3837034"/>
            <a:ext cx="1436915" cy="427512"/>
          </a:xfrm>
          <a:prstGeom prst="rect">
            <a:avLst/>
          </a:prstGeom>
          <a:solidFill>
            <a:srgbClr val="EAA4A4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CC0EC2-EECD-B9BF-5C9A-B2634AFA0354}"/>
              </a:ext>
            </a:extLst>
          </p:cNvPr>
          <p:cNvSpPr txBox="1"/>
          <p:nvPr/>
        </p:nvSpPr>
        <p:spPr>
          <a:xfrm>
            <a:off x="5321134" y="3912290"/>
            <a:ext cx="1375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동영상 요약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541BF2-3390-BC19-9466-66A27A78DD91}"/>
              </a:ext>
            </a:extLst>
          </p:cNvPr>
          <p:cNvSpPr/>
          <p:nvPr/>
        </p:nvSpPr>
        <p:spPr bwMode="auto">
          <a:xfrm>
            <a:off x="6256319" y="3073054"/>
            <a:ext cx="1436915" cy="284381"/>
          </a:xfrm>
          <a:prstGeom prst="rect">
            <a:avLst/>
          </a:prstGeom>
          <a:solidFill>
            <a:srgbClr val="F0CCE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0F14F-5F65-7120-1F7F-C8A76EA3D129}"/>
              </a:ext>
            </a:extLst>
          </p:cNvPr>
          <p:cNvSpPr txBox="1"/>
          <p:nvPr/>
        </p:nvSpPr>
        <p:spPr>
          <a:xfrm>
            <a:off x="6286996" y="3080436"/>
            <a:ext cx="1375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사건 단위 분리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064EE2D-0B6B-FF30-ED0B-820E31AE5440}"/>
              </a:ext>
            </a:extLst>
          </p:cNvPr>
          <p:cNvSpPr/>
          <p:nvPr/>
        </p:nvSpPr>
        <p:spPr bwMode="auto">
          <a:xfrm>
            <a:off x="7210304" y="4316633"/>
            <a:ext cx="1436915" cy="284381"/>
          </a:xfrm>
          <a:prstGeom prst="rect">
            <a:avLst/>
          </a:prstGeom>
          <a:solidFill>
            <a:srgbClr val="F5D3D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ECDC6E-7A11-1217-1081-C294330C2C65}"/>
              </a:ext>
            </a:extLst>
          </p:cNvPr>
          <p:cNvSpPr txBox="1"/>
          <p:nvPr/>
        </p:nvSpPr>
        <p:spPr>
          <a:xfrm>
            <a:off x="7240981" y="4324015"/>
            <a:ext cx="1375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고속 검색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2BAB675-4A33-5A26-9B29-0D98D7A8FE09}"/>
              </a:ext>
            </a:extLst>
          </p:cNvPr>
          <p:cNvSpPr/>
          <p:nvPr/>
        </p:nvSpPr>
        <p:spPr bwMode="auto">
          <a:xfrm>
            <a:off x="7210304" y="4653101"/>
            <a:ext cx="1436915" cy="284381"/>
          </a:xfrm>
          <a:prstGeom prst="rect">
            <a:avLst/>
          </a:prstGeom>
          <a:solidFill>
            <a:srgbClr val="F5D3D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60B02C-42D1-0B68-6C03-40F1C0801F32}"/>
              </a:ext>
            </a:extLst>
          </p:cNvPr>
          <p:cNvSpPr txBox="1"/>
          <p:nvPr/>
        </p:nvSpPr>
        <p:spPr>
          <a:xfrm>
            <a:off x="7240981" y="4660483"/>
            <a:ext cx="1375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고속 검색</a:t>
            </a:r>
            <a:r>
              <a:rPr lang="en-US" altLang="ko-KR" sz="1000" dirty="0"/>
              <a:t>(</a:t>
            </a:r>
            <a:r>
              <a:rPr lang="ko-KR" altLang="en-US" sz="1000" dirty="0"/>
              <a:t>분석 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9811CB7-6183-3FA1-1261-B34AD1C2B033}"/>
              </a:ext>
            </a:extLst>
          </p:cNvPr>
          <p:cNvSpPr/>
          <p:nvPr/>
        </p:nvSpPr>
        <p:spPr bwMode="auto">
          <a:xfrm>
            <a:off x="7210304" y="4989569"/>
            <a:ext cx="1436915" cy="284381"/>
          </a:xfrm>
          <a:prstGeom prst="rect">
            <a:avLst/>
          </a:prstGeom>
          <a:solidFill>
            <a:srgbClr val="F5D3D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CD6ACF-A599-AF91-C989-7B4268D72BFD}"/>
              </a:ext>
            </a:extLst>
          </p:cNvPr>
          <p:cNvSpPr txBox="1"/>
          <p:nvPr/>
        </p:nvSpPr>
        <p:spPr>
          <a:xfrm>
            <a:off x="7240981" y="4996951"/>
            <a:ext cx="1375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상세 검색</a:t>
            </a:r>
            <a:endParaRPr lang="ko-KR" altLang="en-US" sz="10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0B6BE18-FD5B-D44F-53E1-4F47A47C1911}"/>
              </a:ext>
            </a:extLst>
          </p:cNvPr>
          <p:cNvSpPr/>
          <p:nvPr/>
        </p:nvSpPr>
        <p:spPr bwMode="auto">
          <a:xfrm>
            <a:off x="5290457" y="4660483"/>
            <a:ext cx="1436915" cy="427512"/>
          </a:xfrm>
          <a:prstGeom prst="rect">
            <a:avLst/>
          </a:prstGeom>
          <a:solidFill>
            <a:srgbClr val="F4CB9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AB0BAD-8CC1-B6C5-4BF3-13DC096F483E}"/>
              </a:ext>
            </a:extLst>
          </p:cNvPr>
          <p:cNvSpPr txBox="1"/>
          <p:nvPr/>
        </p:nvSpPr>
        <p:spPr>
          <a:xfrm>
            <a:off x="5321134" y="4735739"/>
            <a:ext cx="1375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보고서 관리</a:t>
            </a: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9EE2D512-8C49-D127-BD9B-E80579EC2413}"/>
              </a:ext>
            </a:extLst>
          </p:cNvPr>
          <p:cNvCxnSpPr>
            <a:stCxn id="28" idx="2"/>
            <a:endCxn id="26" idx="0"/>
          </p:cNvCxnSpPr>
          <p:nvPr/>
        </p:nvCxnSpPr>
        <p:spPr bwMode="auto">
          <a:xfrm rot="5400000">
            <a:off x="6252047" y="3114303"/>
            <a:ext cx="479599" cy="965862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8A49C70F-9897-6B6E-9FB0-4A1210295B48}"/>
              </a:ext>
            </a:extLst>
          </p:cNvPr>
          <p:cNvCxnSpPr>
            <a:stCxn id="28" idx="2"/>
            <a:endCxn id="24" idx="0"/>
          </p:cNvCxnSpPr>
          <p:nvPr/>
        </p:nvCxnSpPr>
        <p:spPr bwMode="auto">
          <a:xfrm rot="16200000" flipH="1">
            <a:off x="7211970" y="3120241"/>
            <a:ext cx="479599" cy="953985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6FA3A97-759B-B28D-866A-A2BE37E3C0A3}"/>
              </a:ext>
            </a:extLst>
          </p:cNvPr>
          <p:cNvCxnSpPr>
            <a:stCxn id="26" idx="2"/>
            <a:endCxn id="41" idx="0"/>
          </p:cNvCxnSpPr>
          <p:nvPr/>
        </p:nvCxnSpPr>
        <p:spPr bwMode="auto">
          <a:xfrm>
            <a:off x="6008915" y="4264546"/>
            <a:ext cx="0" cy="395937"/>
          </a:xfrm>
          <a:prstGeom prst="line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6989644E-C99E-CCBC-5EC7-CF81B8C97A7E}"/>
              </a:ext>
            </a:extLst>
          </p:cNvPr>
          <p:cNvCxnSpPr>
            <a:cxnSpLocks/>
            <a:stCxn id="24" idx="1"/>
          </p:cNvCxnSpPr>
          <p:nvPr/>
        </p:nvCxnSpPr>
        <p:spPr bwMode="auto">
          <a:xfrm rot="10800000" flipV="1">
            <a:off x="6951664" y="4050789"/>
            <a:ext cx="258641" cy="407091"/>
          </a:xfrm>
          <a:prstGeom prst="bentConnector2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13A52929-D4F3-D671-F537-FF55A1596E24}"/>
              </a:ext>
            </a:extLst>
          </p:cNvPr>
          <p:cNvCxnSpPr>
            <a:cxnSpLocks/>
            <a:endCxn id="41" idx="0"/>
          </p:cNvCxnSpPr>
          <p:nvPr/>
        </p:nvCxnSpPr>
        <p:spPr bwMode="auto">
          <a:xfrm rot="10800000" flipV="1">
            <a:off x="6008915" y="4454189"/>
            <a:ext cx="942748" cy="206293"/>
          </a:xfrm>
          <a:prstGeom prst="bentConnector2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2199D578-755A-31D9-6A30-16CD0B94F235}"/>
              </a:ext>
            </a:extLst>
          </p:cNvPr>
          <p:cNvCxnSpPr>
            <a:stCxn id="8" idx="2"/>
            <a:endCxn id="22" idx="0"/>
          </p:cNvCxnSpPr>
          <p:nvPr/>
        </p:nvCxnSpPr>
        <p:spPr bwMode="auto">
          <a:xfrm>
            <a:off x="6974777" y="2256987"/>
            <a:ext cx="0" cy="336468"/>
          </a:xfrm>
          <a:prstGeom prst="line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92B4DE6-56D0-CEFE-F866-A31631D52CB4}"/>
              </a:ext>
            </a:extLst>
          </p:cNvPr>
          <p:cNvCxnSpPr>
            <a:stCxn id="6" idx="3"/>
            <a:endCxn id="22" idx="1"/>
          </p:cNvCxnSpPr>
          <p:nvPr/>
        </p:nvCxnSpPr>
        <p:spPr bwMode="auto">
          <a:xfrm>
            <a:off x="2887683" y="2043231"/>
            <a:ext cx="3368636" cy="763980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13BF3D9-CEF7-BB30-DE16-666BDBDD7927}"/>
              </a:ext>
            </a:extLst>
          </p:cNvPr>
          <p:cNvSpPr/>
          <p:nvPr/>
        </p:nvSpPr>
        <p:spPr bwMode="auto">
          <a:xfrm>
            <a:off x="496783" y="2593455"/>
            <a:ext cx="1436915" cy="427512"/>
          </a:xfrm>
          <a:prstGeom prst="rect">
            <a:avLst/>
          </a:prstGeom>
          <a:solidFill>
            <a:srgbClr val="E6A8CB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05559D-726B-1F1B-5C29-18DE7B2BD808}"/>
              </a:ext>
            </a:extLst>
          </p:cNvPr>
          <p:cNvSpPr txBox="1"/>
          <p:nvPr/>
        </p:nvSpPr>
        <p:spPr>
          <a:xfrm>
            <a:off x="527460" y="2684099"/>
            <a:ext cx="1375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최대 </a:t>
            </a:r>
            <a:r>
              <a:rPr lang="ko-KR" altLang="en-US" sz="1000" dirty="0" err="1"/>
              <a:t>접속자</a:t>
            </a:r>
            <a:r>
              <a:rPr lang="ko-KR" altLang="en-US" sz="1000" dirty="0"/>
              <a:t> 수 관리</a:t>
            </a:r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687EB05C-5225-B1E7-E125-09F51C975BEF}"/>
              </a:ext>
            </a:extLst>
          </p:cNvPr>
          <p:cNvCxnSpPr>
            <a:stCxn id="6" idx="2"/>
            <a:endCxn id="96" idx="0"/>
          </p:cNvCxnSpPr>
          <p:nvPr/>
        </p:nvCxnSpPr>
        <p:spPr bwMode="auto">
          <a:xfrm rot="5400000">
            <a:off x="1524000" y="1948229"/>
            <a:ext cx="336468" cy="953985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1FB930D5-065C-AA0D-20C9-43BFE9674C5C}"/>
              </a:ext>
            </a:extLst>
          </p:cNvPr>
          <p:cNvCxnSpPr>
            <a:stCxn id="6" idx="2"/>
            <a:endCxn id="17" idx="0"/>
          </p:cNvCxnSpPr>
          <p:nvPr/>
        </p:nvCxnSpPr>
        <p:spPr bwMode="auto">
          <a:xfrm rot="16200000" flipH="1">
            <a:off x="2483921" y="1942291"/>
            <a:ext cx="336468" cy="965859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3480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576F-1A8B-2C7F-9012-359E14CF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A1ABC5-F749-69FD-F219-EF4466CD860F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로그인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96C93D-DC79-AF6C-8241-36A4E55FE0E2}"/>
              </a:ext>
            </a:extLst>
          </p:cNvPr>
          <p:cNvGraphicFramePr>
            <a:graphicFrameLocks noGrp="1"/>
          </p:cNvGraphicFramePr>
          <p:nvPr/>
        </p:nvGraphicFramePr>
        <p:xfrm>
          <a:off x="6824662" y="748324"/>
          <a:ext cx="2287587" cy="6115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VSS</a:t>
                      </a:r>
                      <a:r>
                        <a:rPr lang="ko-KR" altLang="en-US" sz="800" dirty="0"/>
                        <a:t>에 진입할 시 노출되는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ID</a:t>
                      </a:r>
                      <a:r>
                        <a:rPr lang="ko-KR" altLang="en-US" sz="800" dirty="0"/>
                        <a:t> 입력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존재하지 않는 </a:t>
                      </a:r>
                      <a:r>
                        <a:rPr lang="en-US" altLang="ko-KR" sz="700" dirty="0"/>
                        <a:t>ID </a:t>
                      </a:r>
                      <a:r>
                        <a:rPr lang="ko-KR" altLang="en-US" sz="700" dirty="0"/>
                        <a:t>입력 시 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존재하지 않는 </a:t>
                      </a:r>
                      <a:r>
                        <a:rPr lang="en-US" altLang="ko-KR" sz="700" dirty="0"/>
                        <a:t>ID</a:t>
                      </a:r>
                      <a:r>
                        <a:rPr lang="ko-KR" altLang="en-US" sz="700" dirty="0"/>
                        <a:t>입니다</a:t>
                      </a:r>
                      <a:r>
                        <a:rPr lang="en-US" altLang="ko-KR" sz="700" dirty="0"/>
                        <a:t>.” </a:t>
                      </a:r>
                      <a:r>
                        <a:rPr lang="ko-KR" altLang="en-US" sz="700" dirty="0"/>
                        <a:t>라는 알림 출력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PW </a:t>
                      </a:r>
                      <a:r>
                        <a:rPr lang="ko-KR" altLang="en-US" sz="800" dirty="0"/>
                        <a:t>입력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비밀번호가 입력된 </a:t>
                      </a:r>
                      <a:r>
                        <a:rPr lang="en-US" altLang="ko-KR" sz="700" dirty="0"/>
                        <a:t>ID</a:t>
                      </a:r>
                      <a:r>
                        <a:rPr lang="ko-KR" altLang="en-US" sz="700" dirty="0"/>
                        <a:t>와 매칭이 되지 않을 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경우 </a:t>
                      </a:r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비밀번호가 잘못 입력되었습니다</a:t>
                      </a:r>
                      <a:r>
                        <a:rPr lang="en-US" altLang="ko-KR" sz="700" dirty="0"/>
                        <a:t>.” </a:t>
                      </a:r>
                      <a:r>
                        <a:rPr lang="ko-KR" altLang="en-US" sz="700" dirty="0"/>
                        <a:t>라는 알림 출력</a:t>
                      </a:r>
                      <a:endParaRPr lang="en-US" altLang="ko-KR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3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비밀번호 재설정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비밀번호를 재설정할 수 있는 메뉴로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011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로그인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</a:t>
                      </a:r>
                      <a:r>
                        <a:rPr lang="ko-KR" altLang="en-US" sz="700" dirty="0"/>
                        <a:t> 이미 회원 가입이 된 </a:t>
                      </a:r>
                      <a:r>
                        <a:rPr lang="en-US" altLang="ko-KR" sz="700" dirty="0"/>
                        <a:t>ID</a:t>
                      </a:r>
                      <a:r>
                        <a:rPr lang="ko-KR" altLang="en-US" sz="700" dirty="0"/>
                        <a:t>와 매칭되는 </a:t>
                      </a:r>
                      <a:r>
                        <a:rPr lang="en-US" altLang="ko-KR" sz="700" dirty="0"/>
                        <a:t>PW</a:t>
                      </a:r>
                      <a:r>
                        <a:rPr lang="ko-KR" altLang="en-US" sz="700" dirty="0"/>
                        <a:t>를 입력한 후 클릭 시 </a:t>
                      </a:r>
                      <a:r>
                        <a:rPr lang="en-US" altLang="ko-KR" sz="700" dirty="0"/>
                        <a:t>VSS </a:t>
                      </a:r>
                      <a:r>
                        <a:rPr lang="ko-KR" altLang="en-US" sz="700" dirty="0"/>
                        <a:t>메뉴 접속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73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회원가입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회원가입 메뉴로 이동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732705"/>
                  </a:ext>
                </a:extLst>
              </a:tr>
              <a:tr h="37534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AB587712-17AD-1C04-117C-2884F79FCF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" t="3603" r="2070" b="3716"/>
          <a:stretch>
            <a:fillRect/>
          </a:stretch>
        </p:blipFill>
        <p:spPr>
          <a:xfrm>
            <a:off x="105627" y="1321379"/>
            <a:ext cx="6657962" cy="37335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529483C3-49F1-7BE7-F340-78AF92E725B7}"/>
              </a:ext>
            </a:extLst>
          </p:cNvPr>
          <p:cNvSpPr/>
          <p:nvPr/>
        </p:nvSpPr>
        <p:spPr>
          <a:xfrm>
            <a:off x="162296" y="136170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822E5229-9094-5415-EBBC-F9886EA0F7F0}"/>
              </a:ext>
            </a:extLst>
          </p:cNvPr>
          <p:cNvSpPr/>
          <p:nvPr/>
        </p:nvSpPr>
        <p:spPr>
          <a:xfrm>
            <a:off x="4120736" y="277684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235E5C52-35C9-7D12-2971-5FD6041BFD6E}"/>
              </a:ext>
            </a:extLst>
          </p:cNvPr>
          <p:cNvSpPr/>
          <p:nvPr/>
        </p:nvSpPr>
        <p:spPr>
          <a:xfrm>
            <a:off x="4120736" y="318778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EA61407A-DF51-1B76-DBC6-74A8A64D32C0}"/>
              </a:ext>
            </a:extLst>
          </p:cNvPr>
          <p:cNvSpPr/>
          <p:nvPr/>
        </p:nvSpPr>
        <p:spPr>
          <a:xfrm>
            <a:off x="4210736" y="348844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2EB4E780-501F-9241-AD91-562C2E162888}"/>
              </a:ext>
            </a:extLst>
          </p:cNvPr>
          <p:cNvSpPr/>
          <p:nvPr/>
        </p:nvSpPr>
        <p:spPr>
          <a:xfrm>
            <a:off x="4120736" y="372206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0379FD27-831B-493C-BFCB-4387F7DFA5DB}"/>
              </a:ext>
            </a:extLst>
          </p:cNvPr>
          <p:cNvSpPr/>
          <p:nvPr/>
        </p:nvSpPr>
        <p:spPr>
          <a:xfrm>
            <a:off x="3825832" y="4060512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6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04501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5DF1-A9C9-FA3F-D445-33FE1958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57237-7A7C-E70B-72C0-6C89C6592B81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비밀번호 재설정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D182A59-C0A7-FF12-38B1-DB10D2911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9484"/>
              </p:ext>
            </p:extLst>
          </p:nvPr>
        </p:nvGraphicFramePr>
        <p:xfrm>
          <a:off x="6824662" y="748324"/>
          <a:ext cx="2287587" cy="6115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 입력</a:t>
                      </a:r>
                      <a:br>
                        <a:rPr lang="en-US" altLang="ko-KR" sz="10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존재하지 않는 </a:t>
                      </a:r>
                      <a:r>
                        <a:rPr lang="en-US" altLang="ko-KR" sz="700" dirty="0"/>
                        <a:t>ID </a:t>
                      </a:r>
                      <a:r>
                        <a:rPr lang="ko-KR" altLang="en-US" sz="700" dirty="0"/>
                        <a:t>입력 시 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존재하지 않는 </a:t>
                      </a:r>
                      <a:r>
                        <a:rPr lang="en-US" altLang="ko-KR" sz="700" dirty="0"/>
                        <a:t>ID</a:t>
                      </a:r>
                      <a:r>
                        <a:rPr lang="ko-KR" altLang="en-US" sz="700" dirty="0"/>
                        <a:t>입니다</a:t>
                      </a:r>
                      <a:r>
                        <a:rPr lang="en-US" altLang="ko-KR" sz="700" dirty="0"/>
                        <a:t>.” </a:t>
                      </a:r>
                      <a:r>
                        <a:rPr lang="ko-KR" altLang="en-US" sz="700" dirty="0"/>
                        <a:t>라는 알림 출력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이메일 입력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이메일 입력 후 인증 코드 전송 버튼 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클릭 시 해당 이메일로 인증 코드 발송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이메일 형식이 올바르지 않은 경우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올바르지 않은 이메일 형식입니다</a:t>
                      </a:r>
                      <a:r>
                        <a:rPr lang="en-US" altLang="ko-KR" sz="700" dirty="0"/>
                        <a:t>.”</a:t>
                      </a:r>
                      <a:r>
                        <a:rPr lang="ko-KR" altLang="en-US" sz="700" dirty="0"/>
                        <a:t>라는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알림 출력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인증번호 입력</a:t>
                      </a:r>
                      <a:endParaRPr lang="en-US" altLang="ko-KR" sz="8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/>
                        <a:t>-</a:t>
                      </a:r>
                      <a:r>
                        <a:rPr lang="ko-KR" altLang="en-US" sz="700" dirty="0"/>
                        <a:t> 이메일로 수신된 인증번호 입력 시 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비밀번호 재설정 입력 칸 활성화</a:t>
                      </a:r>
                      <a:endParaRPr lang="en-US" altLang="ko-KR" sz="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3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800" dirty="0"/>
                        <a:t>재설정할 </a:t>
                      </a:r>
                      <a:r>
                        <a:rPr lang="en-US" altLang="ko-KR" sz="800" dirty="0"/>
                        <a:t>PW </a:t>
                      </a:r>
                      <a:r>
                        <a:rPr lang="ko-KR" altLang="en-US" sz="800" dirty="0"/>
                        <a:t>입력</a:t>
                      </a:r>
                      <a:endParaRPr lang="en-US" altLang="ko-KR" sz="8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/>
                        <a:t>- 8</a:t>
                      </a:r>
                      <a:r>
                        <a:rPr lang="ko-KR" altLang="en-US" sz="700" dirty="0"/>
                        <a:t>자 이상의 영어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숫자로 이루어진 </a:t>
                      </a:r>
                      <a:r>
                        <a:rPr lang="en-US" altLang="ko-KR" sz="700" dirty="0"/>
                        <a:t>PW </a:t>
                      </a:r>
                      <a:r>
                        <a:rPr lang="ko-KR" altLang="en-US" sz="700" dirty="0"/>
                        <a:t>입력</a:t>
                      </a:r>
                      <a:endParaRPr lang="en-US" altLang="ko-KR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89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/>
                        <a:t>PW</a:t>
                      </a:r>
                      <a:r>
                        <a:rPr lang="ko-KR" altLang="en-US" sz="800" dirty="0"/>
                        <a:t> 입력 확인</a:t>
                      </a:r>
                      <a:endParaRPr lang="en-US" altLang="ko-KR" sz="8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/>
                        <a:t>- PW</a:t>
                      </a:r>
                      <a:r>
                        <a:rPr lang="ko-KR" altLang="en-US" sz="700" dirty="0"/>
                        <a:t>를 올바르게 입력했는지 확인하기 위해 </a:t>
                      </a:r>
                      <a:r>
                        <a:rPr lang="en-US" altLang="ko-KR" sz="700" dirty="0"/>
                        <a:t>PW </a:t>
                      </a:r>
                      <a:r>
                        <a:rPr lang="ko-KR" altLang="en-US" sz="700" dirty="0"/>
                        <a:t>재입력</a:t>
                      </a:r>
                      <a:endParaRPr lang="en-US" altLang="ko-KR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70123"/>
                  </a:ext>
                </a:extLst>
              </a:tr>
              <a:tr h="37534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236E9410-6C86-ACB9-D05E-D9378D0A93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" t="3460" r="2011" b="3530"/>
          <a:stretch>
            <a:fillRect/>
          </a:stretch>
        </p:blipFill>
        <p:spPr>
          <a:xfrm>
            <a:off x="105627" y="1292266"/>
            <a:ext cx="6719035" cy="38376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28FB6853-CF52-8C4F-95B0-58A9854E4087}"/>
              </a:ext>
            </a:extLst>
          </p:cNvPr>
          <p:cNvSpPr/>
          <p:nvPr/>
        </p:nvSpPr>
        <p:spPr>
          <a:xfrm>
            <a:off x="4203864" y="273755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E9784862-F842-4A8B-0FDD-30D125648B46}"/>
              </a:ext>
            </a:extLst>
          </p:cNvPr>
          <p:cNvSpPr/>
          <p:nvPr/>
        </p:nvSpPr>
        <p:spPr>
          <a:xfrm>
            <a:off x="4203864" y="314348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511003CB-AAB6-F82A-E391-44C140724A03}"/>
              </a:ext>
            </a:extLst>
          </p:cNvPr>
          <p:cNvSpPr/>
          <p:nvPr/>
        </p:nvSpPr>
        <p:spPr>
          <a:xfrm>
            <a:off x="4203864" y="354942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5C80E754-9120-7B56-FEFD-2FAA89552F43}"/>
              </a:ext>
            </a:extLst>
          </p:cNvPr>
          <p:cNvSpPr/>
          <p:nvPr/>
        </p:nvSpPr>
        <p:spPr>
          <a:xfrm>
            <a:off x="4203864" y="395536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207D3552-5940-FB9A-A1EA-C0C15BFE5DC5}"/>
              </a:ext>
            </a:extLst>
          </p:cNvPr>
          <p:cNvSpPr/>
          <p:nvPr/>
        </p:nvSpPr>
        <p:spPr>
          <a:xfrm>
            <a:off x="4203864" y="4361302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5333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964B-417B-B88A-D8F1-D3D82D97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6EB7A7-EFB5-4BF7-4215-02BD7C9D88A2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회원가입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A6B500-50F0-8AFC-4EB8-91BEBDC32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304336"/>
              </p:ext>
            </p:extLst>
          </p:nvPr>
        </p:nvGraphicFramePr>
        <p:xfrm>
          <a:off x="6824662" y="748324"/>
          <a:ext cx="2287587" cy="6107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ID </a:t>
                      </a:r>
                      <a:r>
                        <a:rPr lang="ko-KR" altLang="en-US" sz="800" dirty="0"/>
                        <a:t>입력</a:t>
                      </a:r>
                      <a:endParaRPr lang="en-US" altLang="ko-KR" sz="8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가입할 </a:t>
                      </a:r>
                      <a:r>
                        <a:rPr lang="en-US" altLang="ko-KR" sz="700" dirty="0"/>
                        <a:t>ID </a:t>
                      </a:r>
                      <a:r>
                        <a:rPr lang="ko-KR" altLang="en-US" sz="700" dirty="0"/>
                        <a:t>입력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PW </a:t>
                      </a:r>
                      <a:r>
                        <a:rPr lang="ko-KR" altLang="en-US" sz="900" dirty="0"/>
                        <a:t>입력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가입할 </a:t>
                      </a:r>
                      <a:r>
                        <a:rPr lang="en-US" altLang="ko-KR" sz="700" dirty="0"/>
                        <a:t>ID</a:t>
                      </a:r>
                      <a:r>
                        <a:rPr lang="ko-KR" altLang="en-US" sz="700" dirty="0"/>
                        <a:t>의 비밀번호 입력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PW </a:t>
                      </a:r>
                      <a:r>
                        <a:rPr lang="ko-KR" altLang="en-US" sz="800" dirty="0"/>
                        <a:t>재입력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비밀번호가 올바르게 입력했는지 확인을 위해 비밀번호 재입력</a:t>
                      </a:r>
                      <a:endParaRPr lang="en-US" altLang="ko-KR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3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이메일 입력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가입할 계정의 이메일 입력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011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인증 코드 전송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입력한 이메일에 인증 번호를 전송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73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인증 코드 입력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회원가입 메뉴로 이동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73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회원가입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조건에 맞는 정보들을 입력한 경우 클릭 시 해당 정보 기반한 계정 생성 후 로그인 메뉴로 이동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85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로그인 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로그인 메뉴로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361784"/>
                  </a:ext>
                </a:extLst>
              </a:tr>
              <a:tr h="321209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3C821BC-2F7D-6570-2F33-F67CC36A39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" t="3306" r="2088" b="3618"/>
          <a:stretch>
            <a:fillRect/>
          </a:stretch>
        </p:blipFill>
        <p:spPr>
          <a:xfrm>
            <a:off x="105627" y="1239093"/>
            <a:ext cx="6673909" cy="3736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8200C1EA-C075-4B8D-382C-C4DD0291543E}"/>
              </a:ext>
            </a:extLst>
          </p:cNvPr>
          <p:cNvSpPr/>
          <p:nvPr/>
        </p:nvSpPr>
        <p:spPr>
          <a:xfrm>
            <a:off x="4152404" y="229420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04153FA-6DCB-F165-C702-7A24050FD50F}"/>
              </a:ext>
            </a:extLst>
          </p:cNvPr>
          <p:cNvSpPr/>
          <p:nvPr/>
        </p:nvSpPr>
        <p:spPr>
          <a:xfrm>
            <a:off x="4152404" y="266847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3869DB62-9723-1592-23D6-7FEA3B12ECB3}"/>
              </a:ext>
            </a:extLst>
          </p:cNvPr>
          <p:cNvSpPr/>
          <p:nvPr/>
        </p:nvSpPr>
        <p:spPr>
          <a:xfrm>
            <a:off x="4152404" y="304274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6F47E178-F036-E297-E8D3-EF2270308EDB}"/>
              </a:ext>
            </a:extLst>
          </p:cNvPr>
          <p:cNvSpPr/>
          <p:nvPr/>
        </p:nvSpPr>
        <p:spPr>
          <a:xfrm>
            <a:off x="3601137" y="348213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3382909D-1285-9D1D-02A6-528C45892E50}"/>
              </a:ext>
            </a:extLst>
          </p:cNvPr>
          <p:cNvSpPr/>
          <p:nvPr/>
        </p:nvSpPr>
        <p:spPr>
          <a:xfrm>
            <a:off x="4150315" y="348213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320BC3DD-8ADC-EE53-4E48-3433804F88C6}"/>
              </a:ext>
            </a:extLst>
          </p:cNvPr>
          <p:cNvSpPr/>
          <p:nvPr/>
        </p:nvSpPr>
        <p:spPr>
          <a:xfrm>
            <a:off x="4150315" y="381342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4E24A5D9-7B02-E49E-F0CA-76CBF7FC1CDA}"/>
              </a:ext>
            </a:extLst>
          </p:cNvPr>
          <p:cNvSpPr/>
          <p:nvPr/>
        </p:nvSpPr>
        <p:spPr>
          <a:xfrm>
            <a:off x="3881142" y="449717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BC159FD0-8D8A-BA36-B0A4-D7B86CABBDE8}"/>
              </a:ext>
            </a:extLst>
          </p:cNvPr>
          <p:cNvSpPr/>
          <p:nvPr/>
        </p:nvSpPr>
        <p:spPr>
          <a:xfrm>
            <a:off x="4150315" y="419006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11170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D8E5-DC66-5080-2254-676DFDEB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3BB83-0EDB-BF80-7B40-5E019471FDEE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동영상 관리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E932525-6DE4-8347-66F3-7881B630F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30718"/>
              </p:ext>
            </p:extLst>
          </p:nvPr>
        </p:nvGraphicFramePr>
        <p:xfrm>
          <a:off x="6824662" y="748324"/>
          <a:ext cx="2287587" cy="6115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관리 메뉴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동영상 업로드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동영상 사건 별 폴더로 묶기 등의 작업으로 동영상 관리를 하는 메뉴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전체 선택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현재 업로드 된 동영상을 전부 선택함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만약 업로드 된 동영상이 없을 경우 비활성화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업로드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파일 탐색기가 열리며 이를 통해 업로드 가능</a:t>
                      </a:r>
                      <a:endParaRPr lang="en-US" altLang="ko-KR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3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사이드 메뉴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다른 메뉴로 이동을 하거나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사용자 프로필을 확인할 수 있는 메뉴 모음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011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리스트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업로드 된 동영상을 파일 탐색기처럼 관리를 할 수 있는 리스트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73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폴더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사용자가 직접 생성 가능하며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이를 통해 파일을 분류 가능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73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컨텍스트 메뉴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그룹 이동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그룹 삭제</a:t>
                      </a:r>
                      <a:endParaRPr lang="en-US" altLang="ko-KR" sz="7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그룹 이동 </a:t>
                      </a:r>
                      <a:r>
                        <a:rPr lang="en-US" altLang="ko-KR" sz="700" dirty="0"/>
                        <a:t>(</a:t>
                      </a:r>
                      <a:r>
                        <a:rPr lang="ko-KR" altLang="en-US" sz="700" dirty="0"/>
                        <a:t>현재 선택한 그룹을 다른 그룹으로 이동 가능</a:t>
                      </a:r>
                      <a:r>
                        <a:rPr lang="en-US" altLang="ko-KR" sz="700" dirty="0"/>
                        <a:t>)</a:t>
                      </a:r>
                      <a:endParaRPr lang="ko-KR" altLang="en-US" sz="7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530995"/>
                  </a:ext>
                </a:extLst>
              </a:tr>
              <a:tr h="3021894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990993CC-A34C-C8CB-C0DF-6724989D89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" t="3470" r="1924" b="3117"/>
          <a:stretch>
            <a:fillRect/>
          </a:stretch>
        </p:blipFill>
        <p:spPr>
          <a:xfrm>
            <a:off x="105627" y="1239093"/>
            <a:ext cx="6620229" cy="3736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10B0BDC0-6E78-A217-827B-10C33CFC6D32}"/>
              </a:ext>
            </a:extLst>
          </p:cNvPr>
          <p:cNvSpPr/>
          <p:nvPr/>
        </p:nvSpPr>
        <p:spPr>
          <a:xfrm>
            <a:off x="711647" y="135232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1816765E-015A-3A18-59AA-11DCE8C58FFF}"/>
              </a:ext>
            </a:extLst>
          </p:cNvPr>
          <p:cNvSpPr/>
          <p:nvPr/>
        </p:nvSpPr>
        <p:spPr>
          <a:xfrm>
            <a:off x="6325589" y="154031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43CE6C33-8C0E-2B6D-A350-E75CEB7866E3}"/>
              </a:ext>
            </a:extLst>
          </p:cNvPr>
          <p:cNvSpPr/>
          <p:nvPr/>
        </p:nvSpPr>
        <p:spPr>
          <a:xfrm>
            <a:off x="5409011" y="154380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92868D85-0022-29DB-0DEE-5AFDDD8AFE82}"/>
              </a:ext>
            </a:extLst>
          </p:cNvPr>
          <p:cNvSpPr/>
          <p:nvPr/>
        </p:nvSpPr>
        <p:spPr>
          <a:xfrm>
            <a:off x="72296" y="157885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345FCF76-1996-00CC-302D-BDE744450C72}"/>
              </a:ext>
            </a:extLst>
          </p:cNvPr>
          <p:cNvSpPr/>
          <p:nvPr/>
        </p:nvSpPr>
        <p:spPr>
          <a:xfrm>
            <a:off x="801647" y="191185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CF9541BF-87B2-BBBF-1D82-3F68D8CC9498}"/>
              </a:ext>
            </a:extLst>
          </p:cNvPr>
          <p:cNvSpPr/>
          <p:nvPr/>
        </p:nvSpPr>
        <p:spPr>
          <a:xfrm>
            <a:off x="1348601" y="202386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6C0B6E83-5B22-B3CB-2145-26B284CE1285}"/>
              </a:ext>
            </a:extLst>
          </p:cNvPr>
          <p:cNvSpPr/>
          <p:nvPr/>
        </p:nvSpPr>
        <p:spPr>
          <a:xfrm>
            <a:off x="1612857" y="232000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23647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F68D4-1E11-2ADB-CAA5-AD75D30A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49F69D-1304-FECA-919F-484C2B0D0558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동영상 관리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A0B739-E8B0-3DE3-3EC0-1D2ED769E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433014"/>
              </p:ext>
            </p:extLst>
          </p:nvPr>
        </p:nvGraphicFramePr>
        <p:xfrm>
          <a:off x="6824662" y="748324"/>
          <a:ext cx="2287587" cy="6115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업로드 동영상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업로드 된 동영상 확인 가능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 err="1"/>
                        <a:t>우클릭</a:t>
                      </a:r>
                      <a:r>
                        <a:rPr lang="ko-KR" altLang="en-US" sz="700" dirty="0"/>
                        <a:t> 시 컨텍스트 메뉴 열람 가능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컨텍스트 메뉴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요약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검색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확대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삭제 등의 기능 사용 가능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요약은 요약 메뉴로 선택한 동영상을 가지고 이동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검색은 요약과 마찬가지로 동영상을 가지고 검색 메뉴로 이동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확대는 현재 선택한 동영상 한 개만 확대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파일 정보는 파일의 메타데이터 </a:t>
                      </a:r>
                      <a:r>
                        <a:rPr lang="en-US" altLang="ko-KR" sz="700" dirty="0"/>
                        <a:t>(</a:t>
                      </a:r>
                      <a:r>
                        <a:rPr lang="ko-KR" altLang="en-US" sz="700" dirty="0"/>
                        <a:t>원본 카메라 위치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영상 길이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코멘트 등</a:t>
                      </a:r>
                      <a:r>
                        <a:rPr lang="en-US" altLang="ko-KR" sz="700" dirty="0"/>
                        <a:t>)</a:t>
                      </a:r>
                      <a:r>
                        <a:rPr lang="ko-KR" altLang="en-US" sz="700" dirty="0"/>
                        <a:t>를 확인할 수 있음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 err="1"/>
                        <a:t>즐겨찾기는</a:t>
                      </a:r>
                      <a:r>
                        <a:rPr lang="ko-KR" altLang="en-US" sz="700" dirty="0"/>
                        <a:t> 선택한 파일을 최상단에 노출되도록 지정하는 기능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4408734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F8B9180A-C50C-59AA-88D5-FA33991D7D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" t="3324" r="2047" b="3122"/>
          <a:stretch>
            <a:fillRect/>
          </a:stretch>
        </p:blipFill>
        <p:spPr>
          <a:xfrm>
            <a:off x="113860" y="1242830"/>
            <a:ext cx="6609263" cy="37368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EB5E088A-533F-191C-B34B-676BA7C06655}"/>
              </a:ext>
            </a:extLst>
          </p:cNvPr>
          <p:cNvSpPr/>
          <p:nvPr/>
        </p:nvSpPr>
        <p:spPr>
          <a:xfrm>
            <a:off x="804638" y="195313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2391FE9-CEFA-5981-90B3-CE16F098CA66}"/>
              </a:ext>
            </a:extLst>
          </p:cNvPr>
          <p:cNvSpPr/>
          <p:nvPr/>
        </p:nvSpPr>
        <p:spPr>
          <a:xfrm>
            <a:off x="1850571" y="210250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3301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1C35-CD28-6EDE-43E1-61F93B99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AF59A-2FE2-2FE3-7486-D69D9D104AA3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9F3C20-E4B9-5B7B-D4DE-92AF19592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91223"/>
              </p:ext>
            </p:extLst>
          </p:nvPr>
        </p:nvGraphicFramePr>
        <p:xfrm>
          <a:off x="6824662" y="748324"/>
          <a:ext cx="2287587" cy="6111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/>
                        <a:t>동영상 리스트</a:t>
                      </a:r>
                      <a:br>
                        <a:rPr lang="en-US" altLang="ko-KR" sz="800"/>
                      </a:br>
                      <a:r>
                        <a:rPr lang="en-US" altLang="ko-KR" sz="700"/>
                        <a:t>- </a:t>
                      </a:r>
                      <a:r>
                        <a:rPr lang="ko-KR" altLang="en-US" sz="700"/>
                        <a:t>동영상 관리 메뉴에서 선택해서 옮겨온 동영상을 출력하는 리스트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검색 결과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동영상 검색한 결과 출력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검색 설정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검색할 때 사용되는 파라미터 값들을 설정하는 메뉴 여는 버튼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04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/>
                        <a:t>채팅창</a:t>
                      </a:r>
                      <a:r>
                        <a:rPr lang="ko-KR" altLang="en-US" sz="800" dirty="0"/>
                        <a:t> 추가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새로운 채팅창을 하나 추가하는 버튼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85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검색 타입 지정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 방식을 지정하는 옵션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고속 검색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고속 </a:t>
                      </a:r>
                      <a:r>
                        <a:rPr lang="en-US" altLang="ko-KR" sz="700" dirty="0"/>
                        <a:t>+ VLM </a:t>
                      </a:r>
                      <a:r>
                        <a:rPr lang="ko-KR" altLang="en-US" sz="700" dirty="0"/>
                        <a:t>분석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상세 검색이 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존재함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06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추가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관리 메뉴에서 업로드 되어 있는 동영상들을 선택해 가져올 수 있음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979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검색어 입력</a:t>
                      </a:r>
                      <a:endParaRPr lang="en-US" altLang="ko-KR" sz="800" dirty="0"/>
                    </a:p>
                    <a:p>
                      <a:pPr algn="l" latinLnBrk="1"/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검색할 때 사용할 검색어를 입력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고속 분석일 경우엔 입력 불가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3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검색 시작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클릭 시 입력한 검색어를 기반으로 동영상 검색 진행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267558"/>
                  </a:ext>
                </a:extLst>
              </a:tr>
              <a:tr h="278933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89BE57B-D69D-5B17-809C-DF96C6F8BC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" t="3133" r="2107" b="3499"/>
          <a:stretch>
            <a:fillRect/>
          </a:stretch>
        </p:blipFill>
        <p:spPr>
          <a:xfrm>
            <a:off x="113861" y="1242830"/>
            <a:ext cx="6623819" cy="37368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F4818039-13C4-49EB-01DF-8A9B18B0074C}"/>
              </a:ext>
            </a:extLst>
          </p:cNvPr>
          <p:cNvSpPr/>
          <p:nvPr/>
        </p:nvSpPr>
        <p:spPr>
          <a:xfrm>
            <a:off x="757138" y="137812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BEE7BB70-F673-226A-A7AC-3B755FD49C80}"/>
              </a:ext>
            </a:extLst>
          </p:cNvPr>
          <p:cNvSpPr/>
          <p:nvPr/>
        </p:nvSpPr>
        <p:spPr>
          <a:xfrm>
            <a:off x="2656420" y="137812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71304B72-3171-E112-CFDB-587223A795D0}"/>
              </a:ext>
            </a:extLst>
          </p:cNvPr>
          <p:cNvSpPr/>
          <p:nvPr/>
        </p:nvSpPr>
        <p:spPr>
          <a:xfrm>
            <a:off x="5858501" y="184335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AB7BFF7-7153-90EB-CEC1-1AA9463F910B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6012141" y="1996990"/>
            <a:ext cx="205830" cy="26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ED9939DE-BAF3-1BAC-4B0C-807F5101A670}"/>
              </a:ext>
            </a:extLst>
          </p:cNvPr>
          <p:cNvSpPr/>
          <p:nvPr/>
        </p:nvSpPr>
        <p:spPr>
          <a:xfrm>
            <a:off x="6387825" y="181699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0892C55D-E275-33B2-0C58-0EDE07AE2E21}"/>
              </a:ext>
            </a:extLst>
          </p:cNvPr>
          <p:cNvSpPr/>
          <p:nvPr/>
        </p:nvSpPr>
        <p:spPr>
          <a:xfrm>
            <a:off x="2746420" y="402176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7936A1A1-B4AA-2F45-1BD0-390B95AFCB4B}"/>
              </a:ext>
            </a:extLst>
          </p:cNvPr>
          <p:cNvSpPr/>
          <p:nvPr/>
        </p:nvSpPr>
        <p:spPr>
          <a:xfrm>
            <a:off x="1990358" y="414876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90A5D13B-7620-E6E5-BD1B-907E2901BD8E}"/>
              </a:ext>
            </a:extLst>
          </p:cNvPr>
          <p:cNvSpPr/>
          <p:nvPr/>
        </p:nvSpPr>
        <p:spPr>
          <a:xfrm>
            <a:off x="6387825" y="426905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787C1552-2C29-37E1-2E0A-A5328D44F742}"/>
              </a:ext>
            </a:extLst>
          </p:cNvPr>
          <p:cNvSpPr/>
          <p:nvPr/>
        </p:nvSpPr>
        <p:spPr>
          <a:xfrm>
            <a:off x="2695266" y="426905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9234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F0FF-B5F7-6FE1-A1DB-97AE51F7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B4AF1-1AC7-5487-C403-6C9EEB1E571B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설정 연 </a:t>
            </a:r>
            <a:r>
              <a:rPr lang="en-US" altLang="ko-KR" sz="1200" b="1" dirty="0"/>
              <a:t>UI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2E419C-48EE-1F13-CB87-9EE98A6AA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86086"/>
              </p:ext>
            </p:extLst>
          </p:nvPr>
        </p:nvGraphicFramePr>
        <p:xfrm>
          <a:off x="6824662" y="748324"/>
          <a:ext cx="2287587" cy="5902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설정 메뉴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검색에 사용할 파라미터를 조정하는 메뉴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고속 검색 파라미터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고속 검색 방식에서 사용하는 파라미터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상세 검색 파라미터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상세 검색 방식에서 사용하는 파라미터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04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검색 방식 지정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검색 방식을 선택 시 해당 방식에 따라 검색 진행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850464"/>
                  </a:ext>
                </a:extLst>
              </a:tr>
              <a:tr h="45154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D502E7F-0DAB-AD07-FF60-A6735B2E90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3501" r="2065" b="3240"/>
          <a:stretch>
            <a:fillRect/>
          </a:stretch>
        </p:blipFill>
        <p:spPr>
          <a:xfrm>
            <a:off x="76287" y="1242830"/>
            <a:ext cx="6686225" cy="37368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B9F16D05-82E1-EFC6-7E4C-0B2C1E6DA690}"/>
              </a:ext>
            </a:extLst>
          </p:cNvPr>
          <p:cNvSpPr/>
          <p:nvPr/>
        </p:nvSpPr>
        <p:spPr>
          <a:xfrm>
            <a:off x="848183" y="1464032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57B34A1-6075-1B67-5F24-C197613EAF24}"/>
              </a:ext>
            </a:extLst>
          </p:cNvPr>
          <p:cNvSpPr/>
          <p:nvPr/>
        </p:nvSpPr>
        <p:spPr>
          <a:xfrm>
            <a:off x="848183" y="166836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E643A037-812A-DC43-7C52-19FB181B1187}"/>
              </a:ext>
            </a:extLst>
          </p:cNvPr>
          <p:cNvSpPr/>
          <p:nvPr/>
        </p:nvSpPr>
        <p:spPr>
          <a:xfrm>
            <a:off x="848183" y="298558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DCAC4EC7-D82D-ACB5-0708-FFC13CCF0C52}"/>
              </a:ext>
            </a:extLst>
          </p:cNvPr>
          <p:cNvSpPr/>
          <p:nvPr/>
        </p:nvSpPr>
        <p:spPr>
          <a:xfrm>
            <a:off x="3712279" y="4091972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42990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8C09-A657-42C2-2BC7-28154CA6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21837A-7FA9-5783-8892-F364072C14A8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 </a:t>
            </a:r>
            <a:r>
              <a:rPr lang="en-US" altLang="ko-KR" sz="1200" b="1" dirty="0"/>
              <a:t>– </a:t>
            </a:r>
            <a:r>
              <a:rPr lang="ko-KR" altLang="en-US" sz="1200" b="1" dirty="0" err="1"/>
              <a:t>채팅창</a:t>
            </a:r>
            <a:r>
              <a:rPr lang="ko-KR" altLang="en-US" sz="1200" b="1" dirty="0"/>
              <a:t> 추가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ABAEED-D094-CDA3-B336-894930227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45530"/>
              </p:ext>
            </p:extLst>
          </p:nvPr>
        </p:nvGraphicFramePr>
        <p:xfrm>
          <a:off x="6824662" y="748324"/>
          <a:ext cx="2287587" cy="6119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채팅창과 매칭되는 목록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채팅창이 바뀔 경우 해당 채팅창과 매칭되는 동영상들이 목록에 표시됨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이미지 속 채팅창은 방금 생성되었기에</a:t>
                      </a:r>
                      <a:br>
                        <a:rPr lang="en-US" altLang="ko-KR" sz="700" dirty="0"/>
                      </a:br>
                      <a:r>
                        <a:rPr lang="ko-KR" altLang="en-US" sz="700" dirty="0"/>
                        <a:t>매칭되는 동영상이 없는 상태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추가된 </a:t>
                      </a:r>
                      <a:r>
                        <a:rPr lang="ko-KR" altLang="en-US" sz="800" dirty="0" err="1"/>
                        <a:t>채팅창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추가된 </a:t>
                      </a:r>
                      <a:r>
                        <a:rPr lang="ko-KR" altLang="en-US" sz="700" dirty="0" err="1"/>
                        <a:t>채팅창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5159452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CA7B782-2169-D05B-6989-F5E723DE74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" t="3558" r="2035" b="3452"/>
          <a:stretch>
            <a:fillRect/>
          </a:stretch>
        </p:blipFill>
        <p:spPr>
          <a:xfrm>
            <a:off x="213756" y="1310244"/>
            <a:ext cx="6412676" cy="3606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82B3B65D-C7EF-A178-D962-ACBD259000B6}"/>
              </a:ext>
            </a:extLst>
          </p:cNvPr>
          <p:cNvSpPr/>
          <p:nvPr/>
        </p:nvSpPr>
        <p:spPr>
          <a:xfrm>
            <a:off x="875892" y="1756957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4AD67564-DC67-572C-813A-80E58232825B}"/>
              </a:ext>
            </a:extLst>
          </p:cNvPr>
          <p:cNvSpPr/>
          <p:nvPr/>
        </p:nvSpPr>
        <p:spPr>
          <a:xfrm>
            <a:off x="3270749" y="1756957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48780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2EA1-2D5C-69B0-A9D9-213F86BA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A853B-A0B0-1DE7-A2E4-22C6352DA969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동영상 추가 팝업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C2F0212-EC93-A3E9-9B98-EF74682E4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4866"/>
              </p:ext>
            </p:extLst>
          </p:nvPr>
        </p:nvGraphicFramePr>
        <p:xfrm>
          <a:off x="6824662" y="748324"/>
          <a:ext cx="2287587" cy="6107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추가할 동영상 리스트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관리 메뉴에 업로드 된 동영상 리스트 출력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선택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추가할 동영상 선택 가능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추가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선택한 동영상을 검색 메뉴로 추가하는 버튼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044584"/>
                  </a:ext>
                </a:extLst>
              </a:tr>
              <a:tr h="51475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C050F043-86B7-7C31-AF74-8731AF27EC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" t="3353" r="1916" b="3656"/>
          <a:stretch>
            <a:fillRect/>
          </a:stretch>
        </p:blipFill>
        <p:spPr>
          <a:xfrm>
            <a:off x="218791" y="1302327"/>
            <a:ext cx="6415558" cy="3606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10CC78CC-93CA-6B86-BDC8-59CEFC4C3C54}"/>
              </a:ext>
            </a:extLst>
          </p:cNvPr>
          <p:cNvSpPr/>
          <p:nvPr/>
        </p:nvSpPr>
        <p:spPr>
          <a:xfrm>
            <a:off x="1342988" y="1875710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2BDEAC67-3DB0-70AB-5901-3C0846E12B40}"/>
              </a:ext>
            </a:extLst>
          </p:cNvPr>
          <p:cNvSpPr/>
          <p:nvPr/>
        </p:nvSpPr>
        <p:spPr>
          <a:xfrm>
            <a:off x="1370697" y="212113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40447A20-7A12-838E-11F4-D239EBB9AB2F}"/>
              </a:ext>
            </a:extLst>
          </p:cNvPr>
          <p:cNvSpPr/>
          <p:nvPr/>
        </p:nvSpPr>
        <p:spPr>
          <a:xfrm>
            <a:off x="4984754" y="3981601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2916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1229-CBB0-F82B-C8B3-2FA4FFFF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5F4ED-431E-6ACF-7665-0187B3F904E4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동영상 추가 팝업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619938-B942-7154-0B91-3CDC28C9C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56216"/>
              </p:ext>
            </p:extLst>
          </p:nvPr>
        </p:nvGraphicFramePr>
        <p:xfrm>
          <a:off x="6824662" y="748324"/>
          <a:ext cx="2287587" cy="6119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추가된 동영상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추가 기능을 통해 불러온 동영상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동영상 삭제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동영상 삭제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5479492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3417F320-7E72-457B-0EF4-7B54468BDA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3459" r="1851" b="3353"/>
          <a:stretch>
            <a:fillRect/>
          </a:stretch>
        </p:blipFill>
        <p:spPr>
          <a:xfrm>
            <a:off x="348343" y="1373577"/>
            <a:ext cx="6167252" cy="3467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EAB8BADF-E20C-C013-1F65-A697D9CA5604}"/>
              </a:ext>
            </a:extLst>
          </p:cNvPr>
          <p:cNvSpPr/>
          <p:nvPr/>
        </p:nvSpPr>
        <p:spPr>
          <a:xfrm>
            <a:off x="2403850" y="182820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956163D4-6A8E-995F-C830-CBBE48E9DA7D}"/>
              </a:ext>
            </a:extLst>
          </p:cNvPr>
          <p:cNvSpPr/>
          <p:nvPr/>
        </p:nvSpPr>
        <p:spPr>
          <a:xfrm>
            <a:off x="2863029" y="2164677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50883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B19A-AE7C-BF3D-3765-CACC00A4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DE419-70C3-327F-1F63-0D9DB6ACF313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검색 메뉴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결과 출력 예시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CA9EB05-C721-FAA4-0B7E-2D802E07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96635"/>
              </p:ext>
            </p:extLst>
          </p:nvPr>
        </p:nvGraphicFramePr>
        <p:xfrm>
          <a:off x="6824662" y="748324"/>
          <a:ext cx="2287587" cy="6119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고속 검색 결과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단순히 검출된 객체를 기준으로 클립을 나누는 방식으로 검색하는 기능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객체 클래스 입력 필요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고속 검색 </a:t>
                      </a:r>
                      <a:r>
                        <a:rPr lang="en-US" altLang="ko-KR" sz="800" dirty="0"/>
                        <a:t>+ VLM </a:t>
                      </a:r>
                      <a:r>
                        <a:rPr lang="ko-KR" altLang="en-US" sz="800" dirty="0"/>
                        <a:t>분석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기존 고속 검색 방식으로 나눈 클립에서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VLM </a:t>
                      </a:r>
                      <a:r>
                        <a:rPr lang="ko-KR" altLang="en-US" sz="700" dirty="0"/>
                        <a:t>분석을 통해 정보를 출력하는 방식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객체 클래스 및 자연어 기반 검색어 입력 필요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상세 검색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기존 </a:t>
                      </a:r>
                      <a:r>
                        <a:rPr lang="en-US" altLang="ko-KR" sz="700" dirty="0"/>
                        <a:t>VSS</a:t>
                      </a:r>
                      <a:r>
                        <a:rPr lang="ko-KR" altLang="en-US" sz="700" dirty="0"/>
                        <a:t>의 방식대로 동영상을 </a:t>
                      </a:r>
                      <a:r>
                        <a:rPr lang="ko-KR" altLang="en-US" sz="700" dirty="0" err="1"/>
                        <a:t>청크</a:t>
                      </a:r>
                      <a:r>
                        <a:rPr lang="ko-KR" altLang="en-US" sz="700" dirty="0"/>
                        <a:t> 단위로 나누어서 </a:t>
                      </a:r>
                      <a:r>
                        <a:rPr lang="ko-KR" altLang="en-US" sz="700" dirty="0" err="1"/>
                        <a:t>청크</a:t>
                      </a:r>
                      <a:r>
                        <a:rPr lang="ko-KR" altLang="en-US" sz="700" dirty="0"/>
                        <a:t> 내의 프레임을 </a:t>
                      </a:r>
                      <a:r>
                        <a:rPr lang="en-US" altLang="ko-KR" sz="700" dirty="0"/>
                        <a:t>VLM</a:t>
                      </a:r>
                      <a:r>
                        <a:rPr lang="ko-KR" altLang="en-US" sz="700" dirty="0"/>
                        <a:t>에서 분석하고</a:t>
                      </a:r>
                      <a:r>
                        <a:rPr lang="en-US" altLang="ko-KR" sz="700" dirty="0"/>
                        <a:t>, LLM</a:t>
                      </a:r>
                      <a:r>
                        <a:rPr lang="ko-KR" altLang="en-US" sz="700" dirty="0"/>
                        <a:t>이 분석한 결과를 요약하는 방식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자연어 기반 검색어 입력 필요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044584"/>
                  </a:ext>
                </a:extLst>
              </a:tr>
              <a:tr h="4306012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54A2EDD0-D476-C174-618F-7C76EDBBCF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" t="2938" r="1778" b="3176"/>
          <a:stretch>
            <a:fillRect/>
          </a:stretch>
        </p:blipFill>
        <p:spPr>
          <a:xfrm>
            <a:off x="906483" y="573974"/>
            <a:ext cx="4967844" cy="2802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8D20DA-F47D-9C02-6983-2164CCD31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192" y="1421314"/>
            <a:ext cx="1394562" cy="498531"/>
          </a:xfrm>
          <a:prstGeom prst="rect">
            <a:avLst/>
          </a:prstGeom>
        </p:spPr>
      </p:pic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35B57869-86F8-DF20-201A-B85334AA8AD6}"/>
              </a:ext>
            </a:extLst>
          </p:cNvPr>
          <p:cNvSpPr/>
          <p:nvPr/>
        </p:nvSpPr>
        <p:spPr>
          <a:xfrm>
            <a:off x="3915358" y="142131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0938DF3B-E0B0-A402-7178-60C85A4008F5}"/>
              </a:ext>
            </a:extLst>
          </p:cNvPr>
          <p:cNvSpPr/>
          <p:nvPr/>
        </p:nvSpPr>
        <p:spPr>
          <a:xfrm>
            <a:off x="5452754" y="142131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21BFDB0-2CCA-FC48-4885-C256C7FB05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" t="3481" r="1953" b="2953"/>
          <a:stretch>
            <a:fillRect/>
          </a:stretch>
        </p:blipFill>
        <p:spPr>
          <a:xfrm>
            <a:off x="906483" y="3819896"/>
            <a:ext cx="4967844" cy="28025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197A35FE-B072-F407-0962-2F513B6A39AA}"/>
              </a:ext>
            </a:extLst>
          </p:cNvPr>
          <p:cNvSpPr/>
          <p:nvPr/>
        </p:nvSpPr>
        <p:spPr>
          <a:xfrm>
            <a:off x="4195948" y="463358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5BC93D4-6548-6433-0B40-1ACD3A0F93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30812" y="1938170"/>
            <a:ext cx="1085227" cy="20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6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E4A03-6569-93D2-4377-9AD0F521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A2231-6D28-4D95-7AA4-B6F96512CC79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요약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E9D54F-524A-472A-834B-ADBB5F3CE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872252"/>
              </p:ext>
            </p:extLst>
          </p:nvPr>
        </p:nvGraphicFramePr>
        <p:xfrm>
          <a:off x="6824662" y="748324"/>
          <a:ext cx="2287587" cy="6113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입력 영역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요약할 때 사용하는 파라미터 값 설정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동영상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프롬프트 등을 입력하는 영역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결과 영역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프로세스를 거쳐 나온 결과를 출력하고 추가 작업을 진행하는 영역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요약 설정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요약할 때 사용하는 파라미터 값을 조절하는 메뉴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 err="1"/>
                        <a:t>청크</a:t>
                      </a:r>
                      <a:r>
                        <a:rPr lang="ko-KR" altLang="en-US" sz="700" dirty="0"/>
                        <a:t> 크기나 </a:t>
                      </a:r>
                      <a:r>
                        <a:rPr lang="ko-KR" altLang="en-US" sz="700" dirty="0" err="1"/>
                        <a:t>청크</a:t>
                      </a:r>
                      <a:r>
                        <a:rPr lang="ko-KR" altLang="en-US" sz="700" dirty="0"/>
                        <a:t> 당 프레임 수 등을 조절 가능함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04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업로드 동영상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업로드한 동영상을 미리보기 할 수 있는 영역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85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요약 결과 출력 </a:t>
                      </a:r>
                      <a:r>
                        <a:rPr lang="ko-KR" altLang="en-US" sz="800" dirty="0" err="1"/>
                        <a:t>채팅창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프로세스를 거쳐 나온 요약 결과를 출력하는 </a:t>
                      </a:r>
                      <a:r>
                        <a:rPr lang="ko-KR" altLang="en-US" sz="700" dirty="0" err="1"/>
                        <a:t>채팅창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06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프롬프트 입력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동영상에서 중심적으로 볼 내용을 분석 요청하는 프롬프트 작성 필요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프롬프트 입력을 안 할 경우 요약 프로세스 실행 불가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979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샘플 프롬프트 옵션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샘플 프롬프트를 선택할 수 있는 옵션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26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질문 입력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출력된 요약 결과에서 궁금한 내용을 질문하기 위해 입력하는 영역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결과 저장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요약 결과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질문 내용 등 채팅에 출력된 결과를 모아 보고서의 형태로 저장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2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초기화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채팅에 출력된 내용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입력한 프롬프트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업로드한 동영상 등 모든 정보 초기화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978743"/>
                  </a:ext>
                </a:extLst>
              </a:tr>
              <a:tr h="16333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422206B0-3FCC-D46D-60B3-088647E40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3713" r="1932" b="3661"/>
          <a:stretch>
            <a:fillRect/>
          </a:stretch>
        </p:blipFill>
        <p:spPr>
          <a:xfrm>
            <a:off x="807522" y="852683"/>
            <a:ext cx="5157849" cy="2884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9C4FC410-905E-2149-B739-662151A9072D}"/>
              </a:ext>
            </a:extLst>
          </p:cNvPr>
          <p:cNvSpPr/>
          <p:nvPr/>
        </p:nvSpPr>
        <p:spPr>
          <a:xfrm>
            <a:off x="1199015" y="85268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9849A849-B1FC-AB7F-6F43-20F9B76E54F4}"/>
              </a:ext>
            </a:extLst>
          </p:cNvPr>
          <p:cNvSpPr/>
          <p:nvPr/>
        </p:nvSpPr>
        <p:spPr>
          <a:xfrm>
            <a:off x="3544055" y="852683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84CD2B0B-F7EF-5E0D-EC09-A7E21B0FE8D0}"/>
              </a:ext>
            </a:extLst>
          </p:cNvPr>
          <p:cNvSpPr/>
          <p:nvPr/>
        </p:nvSpPr>
        <p:spPr>
          <a:xfrm>
            <a:off x="3025135" y="91101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C722B6C-E7EC-D916-CE26-3E30D723DA09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3178775" y="1064655"/>
            <a:ext cx="205830" cy="26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5A8B1439-92C1-E8A9-7480-77D306CD4301}"/>
              </a:ext>
            </a:extLst>
          </p:cNvPr>
          <p:cNvSpPr/>
          <p:nvPr/>
        </p:nvSpPr>
        <p:spPr>
          <a:xfrm>
            <a:off x="1237926" y="126454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D732254E-626F-DC6F-E299-9845B356678A}"/>
              </a:ext>
            </a:extLst>
          </p:cNvPr>
          <p:cNvSpPr/>
          <p:nvPr/>
        </p:nvSpPr>
        <p:spPr>
          <a:xfrm>
            <a:off x="1232184" y="2413594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E1A4D0FA-9AF5-80A2-8B70-D44AEDC3D129}"/>
              </a:ext>
            </a:extLst>
          </p:cNvPr>
          <p:cNvSpPr/>
          <p:nvPr/>
        </p:nvSpPr>
        <p:spPr>
          <a:xfrm>
            <a:off x="3634055" y="126454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28E56589-4E24-1B30-06B0-E4B9B4F95C1E}"/>
              </a:ext>
            </a:extLst>
          </p:cNvPr>
          <p:cNvSpPr/>
          <p:nvPr/>
        </p:nvSpPr>
        <p:spPr>
          <a:xfrm>
            <a:off x="1232184" y="273545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7</a:t>
            </a:r>
            <a:endParaRPr lang="ko-KR" altLang="en-US" sz="900" dirty="0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7F2CEC52-0CC3-DDB9-7784-7C99A359A669}"/>
              </a:ext>
            </a:extLst>
          </p:cNvPr>
          <p:cNvSpPr/>
          <p:nvPr/>
        </p:nvSpPr>
        <p:spPr>
          <a:xfrm>
            <a:off x="3604367" y="273545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64584DB5-DB7C-AAA5-C224-81B3DFC9A46D}"/>
              </a:ext>
            </a:extLst>
          </p:cNvPr>
          <p:cNvSpPr/>
          <p:nvPr/>
        </p:nvSpPr>
        <p:spPr>
          <a:xfrm>
            <a:off x="3604367" y="309173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9</a:t>
            </a:r>
            <a:endParaRPr lang="ko-KR" altLang="en-US" sz="900" dirty="0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5089354-834D-6215-B798-A714CD33B84F}"/>
              </a:ext>
            </a:extLst>
          </p:cNvPr>
          <p:cNvSpPr/>
          <p:nvPr/>
        </p:nvSpPr>
        <p:spPr>
          <a:xfrm>
            <a:off x="3982150" y="3091738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67163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8BEA-8BCD-EC20-3773-16BC062A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746D0-7B6A-E0C5-5CA7-7BC0132FE649}"/>
              </a:ext>
            </a:extLst>
          </p:cNvPr>
          <p:cNvSpPr txBox="1"/>
          <p:nvPr/>
        </p:nvSpPr>
        <p:spPr>
          <a:xfrm>
            <a:off x="162296" y="90952"/>
            <a:ext cx="3376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보고서 메뉴</a:t>
            </a:r>
            <a:endParaRPr lang="en-US" altLang="ko-KR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386645D-AAA7-F31C-60B1-149675EFE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59784"/>
              </p:ext>
            </p:extLst>
          </p:nvPr>
        </p:nvGraphicFramePr>
        <p:xfrm>
          <a:off x="6824662" y="748324"/>
          <a:ext cx="2287587" cy="61181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56">
                  <a:extLst>
                    <a:ext uri="{9D8B030D-6E8A-4147-A177-3AD203B41FA5}">
                      <a16:colId xmlns:a16="http://schemas.microsoft.com/office/drawing/2014/main" val="2909276614"/>
                    </a:ext>
                  </a:extLst>
                </a:gridCol>
                <a:gridCol w="2046431">
                  <a:extLst>
                    <a:ext uri="{9D8B030D-6E8A-4147-A177-3AD203B41FA5}">
                      <a16:colId xmlns:a16="http://schemas.microsoft.com/office/drawing/2014/main" val="1798475607"/>
                    </a:ext>
                  </a:extLst>
                </a:gridCol>
              </a:tblGrid>
              <a:tr h="170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보고서 미리보기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생성된 보고서 예시를 출력하는 영역</a:t>
                      </a:r>
                      <a:br>
                        <a:rPr lang="en-US" altLang="ko-KR" sz="7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편집도 가능함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10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보고서 목록 출력 영역</a:t>
                      </a:r>
                      <a:br>
                        <a:rPr lang="en-US" altLang="ko-KR" sz="9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생성된 보고서들을 모아 리스트 형태로 출력하는 영역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6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리포트 검색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보고서 제목을 기준으로 검색 가능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2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보고서 내보내기</a:t>
                      </a:r>
                      <a:br>
                        <a:rPr lang="en-US" altLang="ko-KR" sz="800" dirty="0"/>
                      </a:br>
                      <a:r>
                        <a:rPr lang="en-US" altLang="ko-KR" sz="700" dirty="0"/>
                        <a:t>- </a:t>
                      </a:r>
                      <a:r>
                        <a:rPr lang="ko-KR" altLang="en-US" sz="700" dirty="0"/>
                        <a:t>보고서를 </a:t>
                      </a:r>
                      <a:r>
                        <a:rPr lang="en-US" altLang="ko-KR" sz="700" dirty="0"/>
                        <a:t>Word, </a:t>
                      </a:r>
                      <a:r>
                        <a:rPr lang="ko-KR" altLang="en-US" sz="700" dirty="0"/>
                        <a:t>한글 등의 문서 파일 형태로 저장</a:t>
                      </a: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991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보고서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생성된 보고서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작성 일자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 표시가 되어 있으며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삭제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850523"/>
                  </a:ext>
                </a:extLst>
              </a:tr>
              <a:tr h="3938823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28954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5AF77027-68BC-6635-8A3D-FC8088F5C4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" t="2921" r="1826" b="3402"/>
          <a:stretch>
            <a:fillRect/>
          </a:stretch>
        </p:blipFill>
        <p:spPr>
          <a:xfrm>
            <a:off x="201881" y="858391"/>
            <a:ext cx="6437996" cy="3630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BEB67F8C-097B-9427-BD4E-33C927CD88CF}"/>
              </a:ext>
            </a:extLst>
          </p:cNvPr>
          <p:cNvSpPr/>
          <p:nvPr/>
        </p:nvSpPr>
        <p:spPr>
          <a:xfrm>
            <a:off x="765055" y="94983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60A9E6A0-81FE-A124-C0C3-29239EE0D386}"/>
              </a:ext>
            </a:extLst>
          </p:cNvPr>
          <p:cNvSpPr/>
          <p:nvPr/>
        </p:nvSpPr>
        <p:spPr>
          <a:xfrm>
            <a:off x="5159035" y="112983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</a:t>
            </a:r>
            <a:endParaRPr lang="ko-KR" altLang="en-US" sz="900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0F600836-14FE-687B-C100-1BD415D4D29A}"/>
              </a:ext>
            </a:extLst>
          </p:cNvPr>
          <p:cNvSpPr/>
          <p:nvPr/>
        </p:nvSpPr>
        <p:spPr>
          <a:xfrm>
            <a:off x="6413883" y="1309835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3</a:t>
            </a:r>
            <a:endParaRPr lang="ko-KR" altLang="en-US" sz="900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37799281-275A-02AB-AD66-3B659ACD6FBE}"/>
              </a:ext>
            </a:extLst>
          </p:cNvPr>
          <p:cNvSpPr/>
          <p:nvPr/>
        </p:nvSpPr>
        <p:spPr>
          <a:xfrm>
            <a:off x="4979035" y="1327916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4</a:t>
            </a:r>
            <a:endParaRPr lang="ko-KR" altLang="en-US" sz="900" dirty="0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7F7657A0-2E2F-E13A-DA62-224B96D1A021}"/>
              </a:ext>
            </a:extLst>
          </p:cNvPr>
          <p:cNvSpPr/>
          <p:nvPr/>
        </p:nvSpPr>
        <p:spPr>
          <a:xfrm>
            <a:off x="6413883" y="1851279"/>
            <a:ext cx="180000" cy="180000"/>
          </a:xfrm>
          <a:prstGeom prst="flowChartConnector">
            <a:avLst/>
          </a:prstGeom>
          <a:solidFill>
            <a:srgbClr val="4E95D9"/>
          </a:solidFill>
          <a:ln w="63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136584016"/>
      </p:ext>
    </p:extLst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1244</Words>
  <Application>Microsoft Office PowerPoint</Application>
  <PresentationFormat>화면 슬라이드 쇼(4:3)</PresentationFormat>
  <Paragraphs>250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Wingdings</vt:lpstr>
      <vt:lpstr>산출물표준-파워포인트-가로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 수연</dc:creator>
  <cp:lastModifiedBy>박정호</cp:lastModifiedBy>
  <cp:revision>43</cp:revision>
  <dcterms:created xsi:type="dcterms:W3CDTF">2020-01-29T02:17:54Z</dcterms:created>
  <dcterms:modified xsi:type="dcterms:W3CDTF">2026-03-23T07:27:10Z</dcterms:modified>
</cp:coreProperties>
</file>